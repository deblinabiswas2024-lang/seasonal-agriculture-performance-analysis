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17"/>
  </p:notesMasterIdLst>
  <p:handoutMasterIdLst>
    <p:handoutMasterId r:id="rId18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>
          <p15:clr>
            <a:srgbClr val="A4A3A4"/>
          </p15:clr>
        </p15:guide>
        <p15:guide id="2" pos="408">
          <p15:clr>
            <a:srgbClr val="A4A3A4"/>
          </p15:clr>
        </p15:guide>
        <p15:guide id="3" orient="horz" pos="3912">
          <p15:clr>
            <a:srgbClr val="A4A3A4"/>
          </p15:clr>
        </p15:guide>
        <p15:guide id="4" pos="7272">
          <p15:clr>
            <a:srgbClr val="A4A3A4"/>
          </p15:clr>
        </p15:guide>
        <p15:guide id="5" orient="horz" pos="16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048785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1048786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048787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104877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104878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104878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78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104878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2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2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48627" name="Hexagon 14"/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628" name="Hexagon 15"/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629" name="Hexagon 16"/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630" name="Hexagon 17"/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631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32" name="Title 1"/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Oval 9"/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048616" name="Oval 13"/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048617" name="Oval 15"/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048618" name="Picture Placeholder 22"/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19" name="Text Placeholder 26"/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0" name="Title 1"/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ext Placeholder 26"/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593" name="Rectangle 18"/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594" name="Rectangle 20"/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595" name="Rectangle 22"/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596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Picture Placeholder 38"/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50" name="Picture Placeholder 37"/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51" name="Picture Placeholder 39"/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52" name="Picture Placeholder 40"/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1048654" name="Hexagon 8"/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655" name="Hexagon 9"/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656" name="Hexagon 10"/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657" name="Text Placeholder 22"/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8" name="Text Placeholder 22"/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9" name="Text Placeholder 22"/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0" name="Text Placeholder 22"/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1" name="Text Placeholder 22"/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2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3" name="Text Placeholder 22"/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4" name="Text Placeholder 22"/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5" name="Text Placeholder 22"/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6" name="Text Placeholder 22"/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7" name="Picture Placeholder 36"/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145728" name="Straight Connector 19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29" name="Straight Connector 20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576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7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8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9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0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1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2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3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48584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5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86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104858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4858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48589" name="Date Placeholder 3"/>
          <p:cNvSpPr txBox="1"/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1048590" name="Footer Placeholder 4"/>
          <p:cNvSpPr txBox="1"/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1048591" name="Slide Number Placeholder 5"/>
          <p:cNvSpPr txBox="1"/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678362" y="3248524"/>
            <a:ext cx="7597214" cy="8377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900" b="0" dirty="0">
                <a:solidFill>
                  <a:schemeClr val="tx1"/>
                </a:solidFill>
              </a:rPr>
              <a:t>Student Name</a:t>
            </a:r>
            <a:r>
              <a:rPr lang="en-US" altLang="en-GB" sz="1900" b="0" dirty="0">
                <a:solidFill>
                  <a:schemeClr val="tx1"/>
                </a:solidFill>
              </a:rPr>
              <a:t>: Deblina Biswas</a:t>
            </a:r>
            <a:endParaRPr lang="en-IN" sz="1900" b="0" dirty="0">
              <a:solidFill>
                <a:schemeClr val="tx1"/>
              </a:solidFill>
            </a:endParaRPr>
          </a:p>
          <a:p>
            <a:pPr algn="l"/>
            <a:r>
              <a:rPr lang="en-US" sz="1900" b="0" dirty="0">
                <a:solidFill>
                  <a:schemeClr val="tx1"/>
                </a:solidFill>
              </a:rPr>
              <a:t>College Name- </a:t>
            </a:r>
            <a:r>
              <a:rPr lang="en-US" altLang="en-GB" sz="1900" b="0" dirty="0">
                <a:solidFill>
                  <a:schemeClr val="tx1"/>
                </a:solidFill>
              </a:rPr>
              <a:t>University of Calcutta (Technology Campus)</a:t>
            </a:r>
            <a:endParaRPr lang="en-IN" sz="1900" b="0" dirty="0">
              <a:solidFill>
                <a:schemeClr val="tx1"/>
              </a:solidFill>
            </a:endParaRPr>
          </a:p>
        </p:txBody>
      </p:sp>
      <p:sp>
        <p:nvSpPr>
          <p:cNvPr id="1048634" name="Title 3"/>
          <p:cNvSpPr>
            <a:spLocks noGrp="1"/>
          </p:cNvSpPr>
          <p:nvPr>
            <p:ph type="title"/>
          </p:nvPr>
        </p:nvSpPr>
        <p:spPr>
          <a:xfrm>
            <a:off x="678362" y="2595003"/>
            <a:ext cx="9454683" cy="629744"/>
          </a:xfrm>
        </p:spPr>
        <p:txBody>
          <a:bodyPr>
            <a:noAutofit/>
          </a:bodyPr>
          <a:lstStyle/>
          <a:p>
            <a:r>
              <a:rPr lang="en-GB" sz="2700" b="1" dirty="0"/>
              <a:t>Project Title-</a:t>
            </a:r>
            <a:r>
              <a:rPr lang="en-US" altLang="en-GB" sz="2700" b="1" dirty="0"/>
              <a:t> Seasonal Agriculture Performance Analysis</a:t>
            </a:r>
            <a:endParaRPr lang="en-IN" sz="2700" b="1" dirty="0"/>
          </a:p>
        </p:txBody>
      </p:sp>
      <p:pic>
        <p:nvPicPr>
          <p:cNvPr id="2097166" name="Picture 5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48635" name="TextBox 2"/>
          <p:cNvSpPr txBox="1"/>
          <p:nvPr/>
        </p:nvSpPr>
        <p:spPr>
          <a:xfrm>
            <a:off x="678362" y="4086244"/>
            <a:ext cx="6812400" cy="993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AICTE STU ID :</a:t>
            </a:r>
            <a:r>
              <a:rPr lang="en-US" altLang="en-GB" sz="3200" b="1" dirty="0"/>
              <a:t> </a:t>
            </a:r>
            <a:r>
              <a:rPr lang="en-US" altLang="en-GB" sz="2800" b="1" dirty="0"/>
              <a:t>STU6a682c43b6ba21785211971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48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48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48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486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486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486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486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486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486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486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486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048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0486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3" grpId="0" build="p"/>
      <p:bldP spid="10486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58929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endParaRPr lang="en-IN" sz="28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altLang="en-GB" sz="2800" dirty="0"/>
              <a:t>Agricultural activities are influenced by seasonal variations in environmental conditions, farming practices, resource availability, and market conditions. As a result, agricultural performance may differ from one season to another.  </a:t>
            </a:r>
            <a:endParaRPr lang="en-IN" sz="28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altLang="en-GB" sz="2800" dirty="0"/>
              <a:t>Raw agricultural data does not clearly explain how agricultural performance changes across seasons or what patterns can be observed in different seasonal conditions.  </a:t>
            </a:r>
            <a:endParaRPr lang="en-IN" sz="28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altLang="en-GB" sz="2800" dirty="0"/>
              <a:t>The objective is to analyze the given agricultural dataset and investigate seasonal differences in agricultural performance by identifying meaningful patterns, trends, relationships, and variations within the available data.  </a:t>
            </a:r>
            <a:endParaRPr lang="en-IN" sz="2800" dirty="0"/>
          </a:p>
        </p:txBody>
      </p:sp>
      <p:sp>
        <p:nvSpPr>
          <p:cNvPr id="1048637" name="Title 3"/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209716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2097168" name="Picture 5"/>
          <p:cNvPicPr>
            <a:picLocks noChangeAspect="1"/>
          </p:cNvPicPr>
          <p:nvPr/>
        </p:nvPicPr>
        <p:blipFill rotWithShape="1">
          <a:blip r:embed="rId3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48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48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48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6" grpId="0" build="p"/>
      <p:bldP spid="10486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2"/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lstStyle/>
          <a:p>
            <a:r>
              <a:rPr lang="en-GB" dirty="0"/>
              <a:t>Project Description</a:t>
            </a:r>
            <a:endParaRPr lang="en-IN" dirty="0"/>
          </a:p>
        </p:txBody>
      </p:sp>
      <p:pic>
        <p:nvPicPr>
          <p:cNvPr id="2097169" name="Picture 4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2097170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48639" name="TextBox 1048638"/>
          <p:cNvSpPr txBox="1"/>
          <p:nvPr/>
        </p:nvSpPr>
        <p:spPr>
          <a:xfrm>
            <a:off x="675956" y="2179545"/>
            <a:ext cx="8627053" cy="3749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en-GB" sz="2000">
                <a:solidFill>
                  <a:srgbClr val="000000"/>
                </a:solidFill>
              </a:rPr>
              <a:t>Core Objective: Conduct an end-to-end data analytics study on 4,000 farm profiles across Kharif, Rabi, and Zaid seasons to evaluate productivity, resource utilization, and financial viability.  </a:t>
            </a:r>
            <a:endParaRPr lang="en-GB" sz="1800">
              <a:solidFill>
                <a:srgbClr val="000000"/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en-US" altLang="en-GB" sz="2000">
                <a:solidFill>
                  <a:srgbClr val="000000"/>
                </a:solidFill>
              </a:rPr>
              <a:t>Data Preprocessing: Imputed missing values across environmental and output metrics (Rainfall, Soil Moisture, and Yield) using median values grouped by season and crop type to maintain distribution integrity.  </a:t>
            </a:r>
            <a:endParaRPr lang="en-GB" sz="1800">
              <a:solidFill>
                <a:srgbClr val="000000"/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en-US" altLang="en-GB" sz="2000">
                <a:solidFill>
                  <a:srgbClr val="000000"/>
                </a:solidFill>
              </a:rPr>
              <a:t>Analytical Scope: Evaluated seasonal yield variations, calculated water use efficiency across irrigation methods, and quantified revenue, input costs, and net profit margins.  </a:t>
            </a:r>
            <a:endParaRPr lang="en-GB" sz="1800">
              <a:solidFill>
                <a:srgbClr val="000000"/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en-US" altLang="en-GB" sz="2000">
                <a:solidFill>
                  <a:srgbClr val="000000"/>
                </a:solidFill>
              </a:rPr>
              <a:t>Evidence-Based Findings: Translated statistical patterns into actionable operational recommendations for sustainable seasonal farming planning.  </a:t>
            </a:r>
            <a:endParaRPr lang="en-GB" sz="28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42500" lnSpcReduction="20000"/>
          </a:bodyPr>
          <a:lstStyle/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n-US" altLang="en-GB" sz="3600" dirty="0"/>
              <a:t>Individual Farmers &amp; Farmer Producer Organizations (FPOs): For data-driven crop selection, input budgeting, and scheduling seasonal sowing based on climate patterns.</a:t>
            </a:r>
            <a:endParaRPr lang="en-IN" sz="3600" dirty="0"/>
          </a:p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n-US" altLang="en-GB" sz="3600" dirty="0"/>
              <a:t>Agricultural Extension Officers &amp; KVKs: For formulating localized advisory on irrigation methods, fertilizer thresholds, and pest control timings.  </a:t>
            </a:r>
            <a:endParaRPr lang="en-IN" sz="3600" dirty="0"/>
          </a:p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n-US" altLang="en-GB" sz="3600" dirty="0"/>
              <a:t>Agritech Firms &amp; Rural Financial Institutions: For assessing farm-level productivity, evaluating seasonal credit risks, and structuring agricultural insurance.</a:t>
            </a:r>
            <a:endParaRPr lang="en-IN" sz="3600" dirty="0"/>
          </a:p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n-US" altLang="en-GB" sz="3600" dirty="0"/>
              <a:t>Policymakers &amp; Water Resource Authorities: For regional canal water allocation, input subsidy targeting, and drought mitigation planning.  </a:t>
            </a:r>
            <a:endParaRPr lang="en-IN" sz="3600" dirty="0"/>
          </a:p>
        </p:txBody>
      </p:sp>
      <p:sp>
        <p:nvSpPr>
          <p:cNvPr id="1048641" name="Title 3"/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2097171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48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48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48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40" grpId="0" build="p"/>
      <p:bldP spid="10486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097165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104862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242747" y="1463105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US" altLang="en-GB" sz="1800" dirty="0"/>
              <a:t>Programming Language: Python 3.x</a:t>
            </a:r>
            <a:endParaRPr lang="en-IN" sz="1600" dirty="0"/>
          </a:p>
          <a:p>
            <a:pPr lvl="1">
              <a:lnSpc>
                <a:spcPct val="150000"/>
              </a:lnSpc>
            </a:pPr>
            <a:r>
              <a:rPr lang="en-US" altLang="en-GB" sz="1800" dirty="0"/>
              <a:t>Core Libraries:</a:t>
            </a:r>
            <a:endParaRPr lang="en-IN" sz="1600" dirty="0"/>
          </a:p>
          <a:p>
            <a:pPr lvl="1">
              <a:lnSpc>
                <a:spcPct val="150000"/>
              </a:lnSpc>
            </a:pPr>
            <a:r>
              <a:rPr lang="en-US" altLang="en-GB" sz="1800" dirty="0"/>
              <a:t>Pandas: Data manipulation, seasonal grouping, imputation, and metric aggregation.  </a:t>
            </a:r>
            <a:endParaRPr lang="en-IN" sz="1600" dirty="0"/>
          </a:p>
          <a:p>
            <a:pPr lvl="1">
              <a:lnSpc>
                <a:spcPct val="150000"/>
              </a:lnSpc>
            </a:pPr>
            <a:r>
              <a:rPr lang="en-US" altLang="en-GB" sz="1800" dirty="0"/>
              <a:t>NumPy: Mathematical calculations and numerical array processing.</a:t>
            </a:r>
            <a:endParaRPr lang="en-IN" sz="1600" dirty="0"/>
          </a:p>
          <a:p>
            <a:pPr lvl="1">
              <a:lnSpc>
                <a:spcPct val="150000"/>
              </a:lnSpc>
            </a:pPr>
            <a:r>
              <a:rPr lang="en-US" altLang="en-GB" sz="1800" dirty="0"/>
              <a:t>Matplotlib &amp; Seaborn: Statistical chart generation, distribution plots, and correlation heatmaps.</a:t>
            </a:r>
            <a:endParaRPr lang="en-IN" sz="1600" dirty="0"/>
          </a:p>
          <a:p>
            <a:pPr lvl="1">
              <a:lnSpc>
                <a:spcPct val="150000"/>
              </a:lnSpc>
            </a:pPr>
            <a:r>
              <a:rPr lang="en-US" altLang="en-GB" sz="1800" dirty="0"/>
              <a:t>Platform &amp; Tools: Google Colab, Jupyter Notebook, GitHub.</a:t>
            </a:r>
            <a:endParaRPr lang="en-IN" dirty="0"/>
          </a:p>
        </p:txBody>
      </p:sp>
      <p:sp>
        <p:nvSpPr>
          <p:cNvPr id="1048622" name="Title 8"/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48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48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48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21" grpId="0" build="p"/>
      <p:bldP spid="10486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Picture 4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48610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8674161" cy="807949"/>
          </a:xfrm>
        </p:spPr>
        <p:txBody>
          <a:bodyPr>
            <a:noAutofit/>
          </a:bodyPr>
          <a:lstStyle/>
          <a:p>
            <a:r>
              <a:rPr lang="en-GB" sz="3200" dirty="0"/>
              <a:t>RESULTS</a:t>
            </a:r>
            <a:r>
              <a:rPr lang="en-US" altLang="en-GB" sz="3200" dirty="0"/>
              <a:t> – Seasonal Crop Yield &amp; Productivity</a:t>
            </a:r>
            <a:endParaRPr lang="en-IN" dirty="0"/>
          </a:p>
        </p:txBody>
      </p:sp>
      <p:pic>
        <p:nvPicPr>
          <p:cNvPr id="2097161" name="Picture 2097160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461692"/>
            <a:ext cx="4949533" cy="2886788"/>
          </a:xfrm>
          <a:prstGeom prst="rect">
            <a:avLst/>
          </a:prstGeom>
        </p:spPr>
      </p:pic>
      <p:sp>
        <p:nvSpPr>
          <p:cNvPr id="1048611" name="TextBox 1048610"/>
          <p:cNvSpPr txBox="1"/>
          <p:nvPr/>
        </p:nvSpPr>
        <p:spPr>
          <a:xfrm>
            <a:off x="489753" y="4445000"/>
            <a:ext cx="4882152" cy="2123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en-GB" sz="1400">
                <a:solidFill>
                  <a:srgbClr val="000000"/>
                </a:solidFill>
              </a:rPr>
              <a:t>Kharif Season Peak: Records the highest average yield at 5.63 tonnes/ha, heavily supported by peak monsoon rainfall averaging 852.11 mm.  </a:t>
            </a:r>
            <a:endParaRPr lang="en-GB" sz="1200">
              <a:solidFill>
                <a:srgbClr val="000000"/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en-US" altLang="en-GB" sz="1400">
                <a:solidFill>
                  <a:srgbClr val="000000"/>
                </a:solidFill>
              </a:rPr>
              <a:t>Rabi Season Stability: Delivers consistent productivity averaging 5.09 tonnes/ha with moderate rainfall (435.94 mm), effectively utilizing residual soil moisture.  </a:t>
            </a:r>
            <a:endParaRPr lang="en-GB" sz="1200">
              <a:solidFill>
                <a:srgbClr val="000000"/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en-US" altLang="en-GB" sz="1400">
                <a:solidFill>
                  <a:srgbClr val="000000"/>
                </a:solidFill>
              </a:rPr>
              <a:t>Zaid Season Deficit: Displays the lowest mean yield at 4.64 tonnes/ha due to dry conditions, limited rainfall (299.12 mm), and elevated thermal stress.</a:t>
            </a:r>
            <a:endParaRPr lang="en-GB" sz="2800">
              <a:solidFill>
                <a:srgbClr val="000000"/>
              </a:solidFill>
            </a:endParaRPr>
          </a:p>
        </p:txBody>
      </p:sp>
      <p:pic>
        <p:nvPicPr>
          <p:cNvPr id="2097183" name="Picture 2097182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38136"/>
            <a:ext cx="5328765" cy="34685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4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48604" name="Title 3"/>
          <p:cNvSpPr>
            <a:spLocks noGrp="1"/>
          </p:cNvSpPr>
          <p:nvPr>
            <p:ph type="title"/>
          </p:nvPr>
        </p:nvSpPr>
        <p:spPr>
          <a:xfrm>
            <a:off x="675957" y="454120"/>
            <a:ext cx="12365001" cy="1154289"/>
          </a:xfrm>
        </p:spPr>
        <p:txBody>
          <a:bodyPr>
            <a:noAutofit/>
          </a:bodyPr>
          <a:lstStyle/>
          <a:p>
            <a:r>
              <a:rPr lang="en-GB" sz="3200" dirty="0"/>
              <a:t>RESULTS</a:t>
            </a:r>
            <a:r>
              <a:rPr lang="en-US" altLang="en-GB" sz="3200" dirty="0"/>
              <a:t> – Economic Performance &amp; Farm Profitability</a:t>
            </a:r>
            <a:endParaRPr lang="en-IN" dirty="0"/>
          </a:p>
        </p:txBody>
      </p:sp>
      <p:pic>
        <p:nvPicPr>
          <p:cNvPr id="2097156" name="Picture 2097155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6" y="1031263"/>
            <a:ext cx="4766762" cy="3145622"/>
          </a:xfrm>
          <a:prstGeom prst="rect">
            <a:avLst/>
          </a:prstGeom>
        </p:spPr>
      </p:pic>
      <p:sp>
        <p:nvSpPr>
          <p:cNvPr id="1048605" name="TextBox 1048604"/>
          <p:cNvSpPr txBox="1"/>
          <p:nvPr/>
        </p:nvSpPr>
        <p:spPr>
          <a:xfrm>
            <a:off x="675956" y="4176884"/>
            <a:ext cx="5021569" cy="2504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en-GB" sz="1600">
                <a:solidFill>
                  <a:srgbClr val="000000"/>
                </a:solidFill>
              </a:rPr>
              <a:t>Kharif Surplus: Delivers the highest net return, generating an average profit of ₹1,78,915 per farm on ₹7.11 Lakh average revenue.</a:t>
            </a:r>
            <a:endParaRPr lang="en-GB" sz="1400">
              <a:solidFill>
                <a:srgbClr val="000000"/>
              </a:solidFill>
            </a:endParaRPr>
          </a:p>
          <a:p>
            <a:r>
              <a:rPr lang="en-US" altLang="en-GB" sz="1600">
                <a:solidFill>
                  <a:srgbClr val="000000"/>
                </a:solidFill>
              </a:rPr>
              <a:t>Rabi Operating Margin: Maintains stable profitability with an average net profit of ₹87,689 per farm on ₹6.02 Lakh revenue.</a:t>
            </a:r>
            <a:endParaRPr lang="en-GB" sz="1400">
              <a:solidFill>
                <a:srgbClr val="000000"/>
              </a:solidFill>
            </a:endParaRPr>
          </a:p>
          <a:p>
            <a:r>
              <a:rPr lang="en-US" altLang="en-GB" sz="1600">
                <a:solidFill>
                  <a:srgbClr val="000000"/>
                </a:solidFill>
              </a:rPr>
              <a:t>Zaid Economic Losses: Operates at an average net deficit of -₹24,805 per farm, as total cultivation costs remain high (₹5.44 Lakh) while seasonal revenue drops to ₹5.19 Lakh.</a:t>
            </a:r>
            <a:endParaRPr lang="en-GB" sz="2800">
              <a:solidFill>
                <a:srgbClr val="000000"/>
              </a:solidFill>
            </a:endParaRPr>
          </a:p>
        </p:txBody>
      </p:sp>
      <p:pic>
        <p:nvPicPr>
          <p:cNvPr id="2097157" name="Picture 2097156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697525" y="1031263"/>
            <a:ext cx="5039368" cy="2628871"/>
          </a:xfrm>
          <a:prstGeom prst="rect">
            <a:avLst/>
          </a:prstGeom>
        </p:spPr>
      </p:pic>
      <p:pic>
        <p:nvPicPr>
          <p:cNvPr id="2097158" name="Picture 2097157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697525" y="4053905"/>
            <a:ext cx="4891573" cy="26274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4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48598" name="Title 3"/>
          <p:cNvSpPr>
            <a:spLocks noGrp="1"/>
          </p:cNvSpPr>
          <p:nvPr>
            <p:ph type="title"/>
          </p:nvPr>
        </p:nvSpPr>
        <p:spPr>
          <a:xfrm>
            <a:off x="433348" y="498678"/>
            <a:ext cx="11481381" cy="1227642"/>
          </a:xfrm>
        </p:spPr>
        <p:txBody>
          <a:bodyPr>
            <a:noAutofit/>
          </a:bodyPr>
          <a:lstStyle/>
          <a:p>
            <a:r>
              <a:rPr lang="en-GB" sz="3200" dirty="0"/>
              <a:t>RESULTS </a:t>
            </a:r>
            <a:r>
              <a:rPr lang="en-US" altLang="en-GB" sz="3200" dirty="0"/>
              <a:t> – Resource Usage &amp; Irrigation Efficiency</a:t>
            </a:r>
            <a:endParaRPr lang="en-IN" dirty="0"/>
          </a:p>
        </p:txBody>
      </p:sp>
      <p:pic>
        <p:nvPicPr>
          <p:cNvPr id="2097153" name="Picture 2097152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33348" y="1112499"/>
            <a:ext cx="4800987" cy="3122169"/>
          </a:xfrm>
          <a:prstGeom prst="rect">
            <a:avLst/>
          </a:prstGeom>
        </p:spPr>
      </p:pic>
      <p:sp>
        <p:nvSpPr>
          <p:cNvPr id="1048599" name="TextBox 1048598"/>
          <p:cNvSpPr txBox="1"/>
          <p:nvPr/>
        </p:nvSpPr>
        <p:spPr>
          <a:xfrm>
            <a:off x="675957" y="4246880"/>
            <a:ext cx="6741465" cy="2225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en-GB" sz="1800">
                <a:solidFill>
                  <a:srgbClr val="000000"/>
                </a:solidFill>
              </a:rPr>
              <a:t>Micro-Irrigation Advantage: Drip systems achieve high water efficiency (6.27 tonnes / 1000 m³), outperforming conventional Flood irrigation (3.44 tonnes / 1000 m³).</a:t>
            </a:r>
            <a:endParaRPr lang="en-GB" sz="1600">
              <a:solidFill>
                <a:srgbClr val="000000"/>
              </a:solidFill>
            </a:endParaRPr>
          </a:p>
          <a:p>
            <a:r>
              <a:rPr lang="en-US" altLang="en-GB" sz="1800">
                <a:solidFill>
                  <a:srgbClr val="000000"/>
                </a:solidFill>
              </a:rPr>
              <a:t>Rainfed Crop Efficiency: Rainfed setups show strong baseline water efficiency (7.56 tonnes / 1000 m³) by relying directly on monsoon precipitation.</a:t>
            </a:r>
            <a:endParaRPr lang="en-GB" sz="1600">
              <a:solidFill>
                <a:srgbClr val="000000"/>
              </a:solidFill>
            </a:endParaRPr>
          </a:p>
          <a:p>
            <a:r>
              <a:rPr lang="en-US" altLang="en-GB" sz="1800">
                <a:solidFill>
                  <a:srgbClr val="000000"/>
                </a:solidFill>
              </a:rPr>
              <a:t>Seasonal Water Demand: Total water usage peaks during Zaid (6,419.89 m³) due to intense evaporation and dry soil conditions.</a:t>
            </a:r>
            <a:endParaRPr lang="en-GB" sz="2800">
              <a:solidFill>
                <a:srgbClr val="000000"/>
              </a:solidFill>
            </a:endParaRPr>
          </a:p>
        </p:txBody>
      </p:sp>
      <p:pic>
        <p:nvPicPr>
          <p:cNvPr id="2097178" name="Picture 2097177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325517" y="255603"/>
            <a:ext cx="2548929" cy="4588207"/>
          </a:xfrm>
          <a:prstGeom prst="rect">
            <a:avLst/>
          </a:prstGeom>
        </p:spPr>
      </p:pic>
      <p:pic>
        <p:nvPicPr>
          <p:cNvPr id="2097179" name="Picture 2097178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514974" y="3918280"/>
            <a:ext cx="4399755" cy="2746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4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48600" name="Title 3"/>
          <p:cNvSpPr>
            <a:spLocks noGrp="1"/>
          </p:cNvSpPr>
          <p:nvPr>
            <p:ph type="title"/>
          </p:nvPr>
        </p:nvSpPr>
        <p:spPr>
          <a:xfrm>
            <a:off x="675957" y="391617"/>
            <a:ext cx="10134438" cy="1227677"/>
          </a:xfrm>
        </p:spPr>
        <p:txBody>
          <a:bodyPr>
            <a:noAutofit/>
          </a:bodyPr>
          <a:lstStyle/>
          <a:p>
            <a:r>
              <a:rPr lang="en-GB" sz="3200" dirty="0"/>
              <a:t>RESULTS</a:t>
            </a:r>
            <a:r>
              <a:rPr lang="en-US" altLang="en-GB" sz="3200" dirty="0"/>
              <a:t> – Environmental Risk &amp; Feature Correlation</a:t>
            </a:r>
            <a:r>
              <a:rPr lang="en-GB" sz="3200" dirty="0"/>
              <a:t> </a:t>
            </a:r>
            <a:endParaRPr lang="en-IN" sz="3300" dirty="0"/>
          </a:p>
        </p:txBody>
      </p:sp>
      <p:pic>
        <p:nvPicPr>
          <p:cNvPr id="2097176" name="Picture 2097175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98918" y="1005455"/>
            <a:ext cx="5628654" cy="3250053"/>
          </a:xfrm>
          <a:prstGeom prst="rect">
            <a:avLst/>
          </a:prstGeom>
        </p:spPr>
      </p:pic>
      <p:sp>
        <p:nvSpPr>
          <p:cNvPr id="1048788" name="TextBox 1048787"/>
          <p:cNvSpPr txBox="1"/>
          <p:nvPr/>
        </p:nvSpPr>
        <p:spPr>
          <a:xfrm>
            <a:off x="428282" y="4241801"/>
            <a:ext cx="4781601" cy="232663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en-GB" sz="1400" dirty="0">
                <a:solidFill>
                  <a:srgbClr val="000000"/>
                </a:solidFill>
              </a:rPr>
              <a:t>Pest &amp; Disease Pressure: High ambient humidity and elevated temperatures across summer and monsoon months drive up disease and pest risk scores.  </a:t>
            </a:r>
            <a:endParaRPr lang="en-GB" sz="1400" dirty="0">
              <a:solidFill>
                <a:srgbClr val="000000"/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en-US" altLang="en-GB" sz="1400" dirty="0">
                <a:solidFill>
                  <a:srgbClr val="000000"/>
                </a:solidFill>
              </a:rPr>
              <a:t>Rainfall &amp; Humidity Coupling: Correlation analysis reveals a strong positive association (r = 0.53) between rainfall levels and humidity.</a:t>
            </a:r>
            <a:endParaRPr lang="en-GB" sz="1400" dirty="0">
              <a:solidFill>
                <a:srgbClr val="000000"/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en-US" altLang="en-GB" sz="1400" dirty="0">
                <a:solidFill>
                  <a:srgbClr val="000000"/>
                </a:solidFill>
              </a:rPr>
              <a:t>Input Overutilization: Excessive chemical fertilizer and pesticide application above soil-calibrated thresholds does not yield proportional productivity gains, inflating costs without boosting profit margins.</a:t>
            </a:r>
            <a:endParaRPr lang="en-GB" sz="1400" dirty="0">
              <a:solidFill>
                <a:srgbClr val="000000"/>
              </a:solidFill>
            </a:endParaRPr>
          </a:p>
        </p:txBody>
      </p:sp>
      <p:pic>
        <p:nvPicPr>
          <p:cNvPr id="2097180" name="Picture 2097179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841296" y="1005455"/>
            <a:ext cx="4579205" cy="2799682"/>
          </a:xfrm>
          <a:prstGeom prst="rect">
            <a:avLst/>
          </a:prstGeom>
        </p:spPr>
      </p:pic>
      <p:pic>
        <p:nvPicPr>
          <p:cNvPr id="2097181" name="Picture 2097180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802430" y="4031137"/>
            <a:ext cx="4617366" cy="24407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Picture 4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48606" name="Title 3"/>
          <p:cNvSpPr>
            <a:spLocks noGrp="1"/>
          </p:cNvSpPr>
          <p:nvPr>
            <p:ph type="title"/>
          </p:nvPr>
        </p:nvSpPr>
        <p:spPr>
          <a:xfrm>
            <a:off x="675957" y="496934"/>
            <a:ext cx="10453510" cy="1007178"/>
          </a:xfrm>
        </p:spPr>
        <p:txBody>
          <a:bodyPr>
            <a:noAutofit/>
          </a:bodyPr>
          <a:lstStyle/>
          <a:p>
            <a:r>
              <a:rPr lang="en-GB" sz="3700" dirty="0"/>
              <a:t>RESULTS</a:t>
            </a:r>
            <a:r>
              <a:rPr lang="en-US" altLang="en-GB" sz="3700" dirty="0"/>
              <a:t> – Crop-Specific Seasonal Performance</a:t>
            </a:r>
            <a:r>
              <a:rPr lang="en-GB" sz="3700" dirty="0"/>
              <a:t> </a:t>
            </a:r>
            <a:endParaRPr lang="en-IN" sz="3700" dirty="0"/>
          </a:p>
        </p:txBody>
      </p:sp>
      <p:pic>
        <p:nvPicPr>
          <p:cNvPr id="2097177" name="Picture 2097176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44670" y="1258827"/>
            <a:ext cx="4853030" cy="3314848"/>
          </a:xfrm>
          <a:prstGeom prst="rect">
            <a:avLst/>
          </a:prstGeom>
        </p:spPr>
      </p:pic>
      <p:sp>
        <p:nvSpPr>
          <p:cNvPr id="1048789" name="TextBox 1048788"/>
          <p:cNvSpPr txBox="1"/>
          <p:nvPr/>
        </p:nvSpPr>
        <p:spPr>
          <a:xfrm>
            <a:off x="601232" y="4364626"/>
            <a:ext cx="4000000" cy="249299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altLang="en-GB" sz="1300" dirty="0">
                <a:solidFill>
                  <a:srgbClr val="000000"/>
                </a:solidFill>
              </a:rPr>
              <a:t>Heavy Biomass Crops: Sugarcane attains peak </a:t>
            </a:r>
            <a:r>
              <a:rPr lang="en-US" altLang="en-GB" sz="1050" dirty="0">
                <a:solidFill>
                  <a:srgbClr val="000000"/>
                </a:solidFill>
              </a:rPr>
              <a:t>yields</a:t>
            </a:r>
            <a:r>
              <a:rPr lang="en-US" altLang="en-GB" sz="1300" dirty="0">
                <a:solidFill>
                  <a:srgbClr val="000000"/>
                </a:solidFill>
              </a:rPr>
              <a:t> during Kharif (53.46 t/ha), tapering to 43.96 t/ha in Rabi and 38.42 t/ha in Zaid.</a:t>
            </a:r>
            <a:endParaRPr lang="en-GB" sz="1300" dirty="0">
              <a:solidFill>
                <a:srgbClr val="000000"/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en-US" altLang="en-GB" sz="1300" dirty="0">
                <a:solidFill>
                  <a:srgbClr val="000000"/>
                </a:solidFill>
              </a:rPr>
              <a:t>Grain &amp; Commercial Crops: Maize (2.97 t/ha), Rice (2.71 t/ha), and Wheat (2.26 t/ha) exhibit their strongest performance in Kharif and Rabi.</a:t>
            </a:r>
            <a:endParaRPr lang="en-GB" sz="1300" dirty="0">
              <a:solidFill>
                <a:srgbClr val="000000"/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en-US" altLang="en-GB" sz="1300" dirty="0">
                <a:solidFill>
                  <a:srgbClr val="000000"/>
                </a:solidFill>
              </a:rPr>
              <a:t>Seasonal Vulnerability: Cash crops like Chilli, Cotton, and Pulses show steep productivity declines during Zaid unless supported by micro-irrigation.</a:t>
            </a:r>
            <a:endParaRPr lang="en-GB" sz="1300" dirty="0">
              <a:solidFill>
                <a:srgbClr val="000000"/>
              </a:solidFill>
            </a:endParaRPr>
          </a:p>
        </p:txBody>
      </p:sp>
      <p:pic>
        <p:nvPicPr>
          <p:cNvPr id="2097182" name="Picture 2097181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902712" y="2131692"/>
            <a:ext cx="5688056" cy="35350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Picture 4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48612" name="Title 3"/>
          <p:cNvSpPr>
            <a:spLocks noGrp="1"/>
          </p:cNvSpPr>
          <p:nvPr>
            <p:ph type="title"/>
          </p:nvPr>
        </p:nvSpPr>
        <p:spPr>
          <a:xfrm>
            <a:off x="675957" y="568438"/>
            <a:ext cx="4735798" cy="982437"/>
          </a:xfrm>
        </p:spPr>
        <p:txBody>
          <a:bodyPr>
            <a:noAutofit/>
          </a:bodyPr>
          <a:lstStyle/>
          <a:p>
            <a:r>
              <a:rPr lang="en-IN" sz="5400" dirty="0"/>
              <a:t>Future scope</a:t>
            </a:r>
          </a:p>
        </p:txBody>
      </p:sp>
      <p:sp>
        <p:nvSpPr>
          <p:cNvPr id="1048613" name="Text Placeholder 30"/>
          <p:cNvSpPr txBox="1"/>
          <p:nvPr/>
        </p:nvSpPr>
        <p:spPr>
          <a:xfrm>
            <a:off x="675957" y="2195864"/>
            <a:ext cx="8393342" cy="466213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/>
              <a:buChar char="•"/>
            </a:pPr>
            <a:r>
              <a:rPr lang="en-US" altLang="en-GB" sz="2400" dirty="0"/>
              <a:t>Predictive Machine Learning: Build regression models (such as Random Forest and XGBoost) to forecast crop yield and market revenue prior to seasonal sowing.  </a:t>
            </a:r>
            <a:endParaRPr lang="en-GB" sz="2800" dirty="0"/>
          </a:p>
          <a:p>
            <a:pPr marL="342900" indent="-342900" algn="l">
              <a:buFont typeface="Arial"/>
              <a:buChar char="•"/>
            </a:pPr>
            <a:r>
              <a:rPr lang="en-US" altLang="en-GB" sz="2400" dirty="0"/>
              <a:t>IoT &amp; Dynamic Advisory: Integrate real-time soil moisture telemetry and weather forecasts to automate micro-irrigation scheduling.  </a:t>
            </a:r>
            <a:endParaRPr lang="en-GB" sz="2800" dirty="0"/>
          </a:p>
          <a:p>
            <a:pPr marL="342900" indent="-342900" algn="l">
              <a:buFont typeface="Arial"/>
              <a:buChar char="•"/>
            </a:pPr>
            <a:r>
              <a:rPr lang="en-US" altLang="en-GB" sz="2400" dirty="0"/>
              <a:t>Geospatial GIS Analytics: Map district-level performance across states to detect regional drought vulnerability and optimize resource allocation.  </a:t>
            </a:r>
            <a:endParaRPr lang="en-GB" sz="2800" dirty="0"/>
          </a:p>
          <a:p>
            <a:pPr marL="342900" indent="-342900" algn="l">
              <a:buFont typeface="Arial"/>
              <a:buChar char="•"/>
            </a:pPr>
            <a:r>
              <a:rPr lang="en-US" altLang="en-GB" sz="2400" dirty="0"/>
              <a:t>Carbon &amp; Sustainability Tracking: Quantify energy and carbon footprints per tonne of agricultural output across various farming practices.</a:t>
            </a:r>
            <a:endParaRPr lang="en-GB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486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48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48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2" grpId="0"/>
      <p:bldP spid="10486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2" name="Picture 4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48642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800" dirty="0"/>
              <a:t>GitHub Link</a:t>
            </a:r>
          </a:p>
        </p:txBody>
      </p:sp>
      <p:sp>
        <p:nvSpPr>
          <p:cNvPr id="1048644" name="Text Placeholder 30"/>
          <p:cNvSpPr txBox="1"/>
          <p:nvPr/>
        </p:nvSpPr>
        <p:spPr>
          <a:xfrm>
            <a:off x="-89146" y="3271897"/>
            <a:ext cx="11001802" cy="491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GB" sz="1800" dirty="0"/>
              <a:t>https://github.com/deblinabiswas2024-lang/Seasonal-Agriculture-Performance-Analysis</a:t>
            </a:r>
            <a:endParaRPr lang="en-GB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486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48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48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42" grpId="0"/>
      <p:bldP spid="104864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3" name="Picture 4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48646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pic>
        <p:nvPicPr>
          <p:cNvPr id="2097175" name="Picture 2097174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6" y="1643658"/>
            <a:ext cx="8071100" cy="44398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4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1048669" name="Text Placeholder 30"/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048670" name="Text Placeholder 28"/>
          <p:cNvSpPr txBox="1"/>
          <p:nvPr/>
        </p:nvSpPr>
        <p:spPr>
          <a:xfrm>
            <a:off x="1074645" y="1639247"/>
            <a:ext cx="7086493" cy="4541240"/>
          </a:xfrm>
          <a:prstGeom prst="rect">
            <a:avLst/>
          </a:prstGeom>
        </p:spPr>
        <p:txBody>
          <a:bodyPr vert="horz" lIns="91440" tIns="45720" rIns="91440" bIns="45720" rtlCol="0">
            <a:normAutofit fontScale="84167"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altLang="en-GB" sz="2400" dirty="0"/>
              <a:t>Presenter Details:</a:t>
            </a:r>
            <a:endParaRPr lang="en-IN" sz="2400" dirty="0"/>
          </a:p>
          <a:p>
            <a:pPr marL="342900" indent="-342900" algn="l">
              <a:buFont typeface="Arial"/>
              <a:buChar char="•"/>
            </a:pPr>
            <a:r>
              <a:rPr lang="en-US" altLang="en-GB" sz="2400" dirty="0"/>
              <a:t>Name: Deblina Biswas  </a:t>
            </a:r>
            <a:endParaRPr lang="en-IN" sz="2400" dirty="0"/>
          </a:p>
          <a:p>
            <a:pPr marL="342900" indent="-342900" algn="l">
              <a:buFont typeface="Arial"/>
              <a:buChar char="•"/>
            </a:pPr>
            <a:r>
              <a:rPr lang="en-US" altLang="en-GB" sz="2400" dirty="0"/>
              <a:t>College: University of Calcutta (Technology Campus)</a:t>
            </a:r>
            <a:endParaRPr lang="en-IN" sz="2400" dirty="0"/>
          </a:p>
          <a:p>
            <a:pPr marL="342900" indent="-342900" algn="l">
              <a:buFont typeface="Arial"/>
              <a:buChar char="•"/>
            </a:pPr>
            <a:r>
              <a:rPr lang="en-US" altLang="en-GB" sz="2400" dirty="0"/>
              <a:t>AICTE Student ID: STU6a682c43b6ba21785211971</a:t>
            </a:r>
            <a:endParaRPr lang="en-IN" sz="2400" dirty="0"/>
          </a:p>
          <a:p>
            <a:pPr marL="0" indent="0" algn="l">
              <a:buNone/>
            </a:pPr>
            <a:r>
              <a:rPr lang="en-US" altLang="en-GB" sz="2400" dirty="0"/>
              <a:t>Key Discussion Topics:</a:t>
            </a:r>
            <a:endParaRPr lang="en-IN" sz="2400" dirty="0"/>
          </a:p>
          <a:p>
            <a:pPr marL="342900" indent="-342900" algn="l">
              <a:buFont typeface="Arial"/>
              <a:buChar char="•"/>
            </a:pPr>
            <a:r>
              <a:rPr lang="en-US" altLang="en-GB" sz="2400" dirty="0"/>
              <a:t>Seasonal Yield Dynamics: Productivity variations across Kharif, Rabi, and Zaid regimes.  </a:t>
            </a:r>
            <a:endParaRPr lang="en-IN" sz="2400" dirty="0"/>
          </a:p>
          <a:p>
            <a:pPr marL="342900" indent="-342900" algn="l">
              <a:buFont typeface="Arial"/>
              <a:buChar char="•"/>
            </a:pPr>
            <a:r>
              <a:rPr lang="en-US" altLang="en-GB" sz="2400" dirty="0"/>
              <a:t>Resource Optimization: Water efficiency gains from drip and sprinkler micro-irrigation over flood irrigation.  </a:t>
            </a:r>
            <a:endParaRPr lang="en-IN" sz="2400" dirty="0"/>
          </a:p>
          <a:p>
            <a:pPr marL="342900" indent="-342900" algn="l">
              <a:buFont typeface="Arial"/>
              <a:buChar char="•"/>
            </a:pPr>
            <a:r>
              <a:rPr lang="en-US" altLang="en-GB" sz="2400" dirty="0"/>
              <a:t>Economic Viability: Addressing cost vs. revenue imbalances to prevent deficits in dry-season farming.  </a:t>
            </a:r>
            <a:endParaRPr lang="en-IN" sz="2400" dirty="0"/>
          </a:p>
        </p:txBody>
      </p:sp>
      <p:sp>
        <p:nvSpPr>
          <p:cNvPr id="1048674" name="Text Placeholder 30"/>
          <p:cNvSpPr txBox="1"/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2097174" name="Picture 14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048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48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48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48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04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4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8" grpId="0"/>
      <p:bldP spid="1048669" grpId="0" build="p"/>
      <p:bldP spid="1048670" grpId="0"/>
      <p:bldP spid="1048674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69F9224-22FE-4B24-8A5B-E8509E552EA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1009</Words>
  <Application>Microsoft Office PowerPoint</Application>
  <PresentationFormat>Widescreen</PresentationFormat>
  <Paragraphs>66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Title- Seasonal Agriculture Performance Analysis</vt:lpstr>
      <vt:lpstr>PROBLEM  STATEMENT</vt:lpstr>
      <vt:lpstr>Project Description</vt:lpstr>
      <vt:lpstr>WHO ARE THE END USERS?</vt:lpstr>
      <vt:lpstr>Technology Used</vt:lpstr>
      <vt:lpstr>RESULTS – Seasonal Crop Yield &amp; Productivity</vt:lpstr>
      <vt:lpstr>RESULTS – Economic Performance &amp; Farm Profitability</vt:lpstr>
      <vt:lpstr>RESULTS  – Resource Usage &amp; Irrigation Efficiency</vt:lpstr>
      <vt:lpstr>RESULTS – Environmental Risk &amp; Feature Correlation </vt:lpstr>
      <vt:lpstr>RESULTS – Crop-Specific Seasonal Performance </vt:lpstr>
      <vt:lpstr>Future scope</vt:lpstr>
      <vt:lpstr>GitHub Link</vt:lpstr>
      <vt:lpstr>VOIS Course completion certificate -  Course name- Data Visualization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Deblina Biswas</cp:lastModifiedBy>
  <cp:revision>1</cp:revision>
  <dcterms:created xsi:type="dcterms:W3CDTF">2021-07-10T15:13:15Z</dcterms:created>
  <dcterms:modified xsi:type="dcterms:W3CDTF">2026-09-10T02:39:05Z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80abde5d055f4ef88340b779712a25bc_23</vt:lpwstr>
  </property>
</Properties>
</file>